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C0C1D"/>
            </a:gs>
            <a:gs pos="100000">
              <a:srgbClr val="2D1B69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6C5CE7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00CEC9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智境 · AI创意工坊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0A0D0"/>
                </a:solidFill>
              </a:defRPr>
            </a:pPr>
            <a:r>
              <a:t>融合计算机视觉 · 大语言模型 · AIGC 的智能创作平台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3657600"/>
            <a:ext cx="1097280" cy="41148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Flask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3657600"/>
            <a:ext cx="1097280" cy="41148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Django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3657600"/>
            <a:ext cx="1097280" cy="41148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OpenCV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3657600"/>
            <a:ext cx="1097280" cy="41148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GLM-4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3657600"/>
            <a:ext cx="1097280" cy="41148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CogView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080A0"/>
                </a:solidFill>
              </a:defRPr>
            </a:pPr>
            <a:r>
              <a:t>Python Web 期末项目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080A0"/>
                </a:solidFill>
              </a:defRPr>
            </a:pPr>
            <a:r>
              <a:t>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3436"/>
                </a:solidFill>
              </a:defRPr>
            </a:pPr>
            <a:r>
              <a:t>项目背景与动机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1371600" cy="54864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5CE7"/>
                </a:solidFill>
              </a:defRPr>
            </a:pPr>
            <a:r>
              <a:t>痛点分析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436"/>
                </a:solidFill>
              </a:defRPr>
            </a:pPr>
            <a:r>
              <a:t>传统创作工具缺乏AI辅助，效率低下</a:t>
            </a:r>
          </a:p>
          <a:p>
            <a:pPr>
              <a:spcAft>
                <a:spcPts val="800"/>
              </a:spcAft>
              <a:defRPr sz="1500">
                <a:solidFill>
                  <a:srgbClr val="2D3436"/>
                </a:solidFill>
              </a:defRPr>
            </a:pPr>
            <a:r>
              <a:t>AI能力分散，用户需在多个平台间切换</a:t>
            </a:r>
          </a:p>
          <a:p>
            <a:pPr>
              <a:spcAft>
                <a:spcPts val="800"/>
              </a:spcAft>
              <a:defRPr sz="1500">
                <a:solidFill>
                  <a:srgbClr val="2D3436"/>
                </a:solidFill>
              </a:defRPr>
            </a:pPr>
            <a:r>
              <a:t>单一AI能力有限，无法实现跨模态创作</a:t>
            </a:r>
          </a:p>
          <a:p>
            <a:pPr>
              <a:spcAft>
                <a:spcPts val="800"/>
              </a:spcAft>
              <a:defRPr sz="1500">
                <a:solidFill>
                  <a:srgbClr val="2D3436"/>
                </a:solidFill>
              </a:defRPr>
            </a:pPr>
            <a:r>
              <a:t>缺乏创作社区，作品难以分享和交流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EC9"/>
                </a:solidFill>
              </a:defRPr>
            </a:pPr>
            <a:r>
              <a:t>解决方案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0116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436"/>
                </a:solidFill>
              </a:defRPr>
            </a:pPr>
            <a:r>
              <a:t>一站式AI创作平台，集成多种AI能力</a:t>
            </a:r>
          </a:p>
          <a:p>
            <a:pPr>
              <a:spcAft>
                <a:spcPts val="800"/>
              </a:spcAft>
              <a:defRPr sz="1500">
                <a:solidFill>
                  <a:srgbClr val="2D3436"/>
                </a:solidFill>
              </a:defRPr>
            </a:pPr>
            <a:r>
              <a:t>微服务架构，AI服务独立部署易扩展</a:t>
            </a:r>
          </a:p>
          <a:p>
            <a:pPr>
              <a:spcAft>
                <a:spcPts val="800"/>
              </a:spcAft>
              <a:defRPr sz="1500">
                <a:solidFill>
                  <a:srgbClr val="2D3436"/>
                </a:solidFill>
              </a:defRPr>
            </a:pPr>
            <a:r>
              <a:t>创意工坊模式，组合CV+LLM+AIGC</a:t>
            </a:r>
          </a:p>
          <a:p>
            <a:pPr>
              <a:spcAft>
                <a:spcPts val="800"/>
              </a:spcAft>
              <a:defRPr sz="1500">
                <a:solidFill>
                  <a:srgbClr val="2D3436"/>
                </a:solidFill>
              </a:defRPr>
            </a:pPr>
            <a:r>
              <a:t>作品画廊社区，点赞评论形成闭环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10698480" cy="128016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5CE7"/>
                </a:solidFill>
              </a:defRPr>
            </a:pPr>
            <a:r>
              <a:t>落地应用场景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23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36E72"/>
                </a:solidFill>
              </a:defRPr>
            </a:pPr>
            <a:r>
              <a:t>内容创作者的智能工具箱 | 设计师的AI灵感助手 | 教育场景的创意教学平台 | 社交媒体的AI内容生成器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3436"/>
                </a:solidFill>
              </a:defRPr>
            </a:pPr>
            <a:r>
              <a:t>技术架构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1371600" cy="54864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389120"/>
          </a:xfrm>
          <a:prstGeom prst="roundRect">
            <a:avLst/>
          </a:prstGeom>
          <a:solidFill>
            <a:srgbClr val="F0F0FF"/>
          </a:solidFill>
          <a:ln w="190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5CE7"/>
                </a:solidFill>
              </a:defRPr>
            </a:pPr>
            <a:r>
              <a:t>Django 主应用 (Port 8000)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389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3436"/>
                </a:solidFill>
              </a:defRPr>
            </a:pPr>
            <a:r>
              <a:t>用户认证系统 (Django Auth)</a:t>
            </a:r>
          </a:p>
          <a:p>
            <a:pPr>
              <a:spcAft>
                <a:spcPts val="400"/>
              </a:spcAft>
              <a:defRPr sz="1300">
                <a:solidFill>
                  <a:srgbClr val="2D3436"/>
                </a:solidFill>
              </a:defRPr>
            </a:pPr>
            <a:r>
              <a:t>  - 注册 / 登录 / 个人中心</a:t>
            </a:r>
          </a:p>
          <a:p>
            <a:pPr>
              <a:spcAft>
                <a:spcPts val="400"/>
              </a:spcAft>
              <a:defRPr sz="1300">
                <a:solidFill>
                  <a:srgbClr val="2D3436"/>
                </a:solidFill>
              </a:defRPr>
            </a:pPr>
            <a:r>
              <a:t>创意工坊模块 (creative)</a:t>
            </a:r>
          </a:p>
          <a:p>
            <a:pPr>
              <a:spcAft>
                <a:spcPts val="400"/>
              </a:spcAft>
              <a:defRPr sz="1300">
                <a:solidFill>
                  <a:srgbClr val="2D3436"/>
                </a:solidFill>
              </a:defRPr>
            </a:pPr>
            <a:r>
              <a:t>  - 智能识物 / AI写作 / AI绘画 / 创意工坊</a:t>
            </a:r>
          </a:p>
          <a:p>
            <a:pPr>
              <a:spcAft>
                <a:spcPts val="400"/>
              </a:spcAft>
              <a:defRPr sz="1300">
                <a:solidFill>
                  <a:srgbClr val="2D3436"/>
                </a:solidFill>
              </a:defRPr>
            </a:pPr>
            <a:r>
              <a:t>作品画廊模块 (gallery)</a:t>
            </a:r>
          </a:p>
          <a:p>
            <a:pPr>
              <a:spcAft>
                <a:spcPts val="400"/>
              </a:spcAft>
              <a:defRPr sz="1300">
                <a:solidFill>
                  <a:srgbClr val="2D3436"/>
                </a:solidFill>
              </a:defRPr>
            </a:pPr>
            <a:r>
              <a:t>  - 作品展示 / 点赞 / 评论 / 发布</a:t>
            </a:r>
          </a:p>
          <a:p>
            <a:pPr>
              <a:spcAft>
                <a:spcPts val="400"/>
              </a:spcAft>
              <a:defRPr sz="1300">
                <a:solidFill>
                  <a:srgbClr val="2D3436"/>
                </a:solidFill>
              </a:defRPr>
            </a:pPr>
            <a:r>
              <a:t>数据库 ORM (SQLite)</a:t>
            </a:r>
          </a:p>
          <a:p>
            <a:pPr>
              <a:spcAft>
                <a:spcPts val="400"/>
              </a:spcAft>
              <a:defRPr sz="1300">
                <a:solidFill>
                  <a:srgbClr val="2D3436"/>
                </a:solidFill>
              </a:defRPr>
            </a:pPr>
            <a:r>
              <a:t>  - User / CreativeProject / Artwork / Comment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43600" y="3200400"/>
            <a:ext cx="731520" cy="457200"/>
          </a:xfrm>
          <a:prstGeom prst="rightArrow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25603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C5CE7"/>
                </a:solidFill>
              </a:defRPr>
            </a:pPr>
            <a:r>
              <a:t>REST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3749039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C5CE7"/>
                </a:solidFill>
              </a:defRPr>
            </a:pPr>
            <a:r>
              <a:t>JSON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463040"/>
            <a:ext cx="4572000" cy="4389120"/>
          </a:xfrm>
          <a:prstGeom prst="roundRect">
            <a:avLst/>
          </a:prstGeom>
          <a:solidFill>
            <a:srgbClr val="F0FFFF"/>
          </a:solidFill>
          <a:ln w="19050">
            <a:solidFill>
              <a:srgbClr val="0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A09C"/>
                </a:solidFill>
              </a:defRPr>
            </a:pPr>
            <a:r>
              <a:t>Flask AI 微服务 (Port 5001)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10312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3436"/>
                </a:solidFill>
              </a:defRPr>
            </a:pPr>
            <a:r>
              <a:t>CV 服务 (OpenCV)</a:t>
            </a:r>
          </a:p>
          <a:p>
            <a:pPr>
              <a:spcAft>
                <a:spcPts val="400"/>
              </a:spcAft>
              <a:defRPr sz="1300">
                <a:solidFill>
                  <a:srgbClr val="2D3436"/>
                </a:solidFill>
              </a:defRPr>
            </a:pPr>
            <a:r>
              <a:t>  - 颜色提取 / 人脸检测 / 场景识别</a:t>
            </a:r>
          </a:p>
          <a:p>
            <a:pPr>
              <a:spcAft>
                <a:spcPts val="400"/>
              </a:spcAft>
              <a:defRPr sz="1300">
                <a:solidFill>
                  <a:srgbClr val="2D3436"/>
                </a:solidFill>
              </a:defRPr>
            </a:pPr>
            <a:r>
              <a:t>  - 清晰度评估 / 亮度分析</a:t>
            </a:r>
          </a:p>
          <a:p>
            <a:pPr>
              <a:spcAft>
                <a:spcPts val="400"/>
              </a:spcAft>
              <a:defRPr sz="1300">
                <a:solidFill>
                  <a:srgbClr val="2D3436"/>
                </a:solidFill>
              </a:defRPr>
            </a:pPr>
            <a:r>
              <a:t>LLM 服务 (GLM-4-Flash)</a:t>
            </a:r>
          </a:p>
          <a:p>
            <a:pPr>
              <a:spcAft>
                <a:spcPts val="400"/>
              </a:spcAft>
              <a:defRPr sz="1300">
                <a:solidFill>
                  <a:srgbClr val="2D3436"/>
                </a:solidFill>
              </a:defRPr>
            </a:pPr>
            <a:r>
              <a:t>  - 多风格写作 / 提示词增强</a:t>
            </a:r>
          </a:p>
          <a:p>
            <a:pPr>
              <a:spcAft>
                <a:spcPts val="400"/>
              </a:spcAft>
              <a:defRPr sz="1300">
                <a:solidFill>
                  <a:srgbClr val="2D3436"/>
                </a:solidFill>
              </a:defRPr>
            </a:pPr>
            <a:r>
              <a:t>  - 5种风格：通用/文学/技术/幽默/诗歌</a:t>
            </a:r>
          </a:p>
          <a:p>
            <a:pPr>
              <a:spcAft>
                <a:spcPts val="400"/>
              </a:spcAft>
              <a:defRPr sz="1300">
                <a:solidFill>
                  <a:srgbClr val="2D3436"/>
                </a:solidFill>
              </a:defRPr>
            </a:pPr>
            <a:r>
              <a:t>AIGC 服务 (CogView-3-Flash)</a:t>
            </a:r>
          </a:p>
          <a:p>
            <a:pPr>
              <a:spcAft>
                <a:spcPts val="400"/>
              </a:spcAft>
              <a:defRPr sz="1300">
                <a:solidFill>
                  <a:srgbClr val="2D3436"/>
                </a:solidFill>
              </a:defRPr>
            </a:pPr>
            <a:r>
              <a:t>  - AI图像生成 / 风格迁移</a:t>
            </a:r>
          </a:p>
          <a:p>
            <a:pPr>
              <a:spcAft>
                <a:spcPts val="400"/>
              </a:spcAft>
              <a:defRPr sz="1300">
                <a:solidFill>
                  <a:srgbClr val="2D3436"/>
                </a:solidFill>
              </a:defRPr>
            </a:pPr>
            <a:r>
              <a:t>  - 6种风格：动漫/写实/水彩/油画/赛博朋克/国画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6035040"/>
            <a:ext cx="10698480" cy="54864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60807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36E72"/>
                </a:solidFill>
              </a:defRPr>
            </a:pPr>
            <a:r>
              <a:t>架构优势：职责分离 | 独立部署 | 易于扩展 | 优雅降级（无API Key时自动Mock演示）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3436"/>
                </a:solidFill>
              </a:defRPr>
            </a:pPr>
            <a:r>
              <a:t>核心功能一：智能识物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1371600" cy="54864"/>
          </a:xfrm>
          <a:prstGeom prst="round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36E72"/>
                </a:solidFill>
              </a:defRPr>
            </a:pPr>
            <a:r>
              <a:t>基于 OpenCV 的计算机视觉分析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56032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2194560"/>
            <a:ext cx="640080" cy="640080"/>
          </a:xfrm>
          <a:prstGeom prst="roundRect">
            <a:avLst/>
          </a:prstGeom>
          <a:solidFill>
            <a:srgbClr val="74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3436"/>
                </a:solidFill>
              </a:defRPr>
            </a:pPr>
            <a:r>
              <a:t>颜色提取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36E72"/>
                </a:solidFill>
              </a:defRPr>
            </a:pPr>
            <a:r>
              <a:t>K-Means聚类算法</a:t>
            </a:r>
            <a:br/>
            <a:r>
              <a:t>提取5种主色调</a:t>
            </a:r>
            <a:br/>
            <a:r>
              <a:t>显示HEX值和占比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920240"/>
            <a:ext cx="256032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86200" y="2194560"/>
            <a:ext cx="640080" cy="640080"/>
          </a:xfrm>
          <a:prstGeom prst="round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971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3436"/>
                </a:solidFill>
              </a:defRPr>
            </a:pPr>
            <a:r>
              <a:t>人脸检测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3375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36E72"/>
                </a:solidFill>
              </a:defRPr>
            </a:pPr>
            <a:r>
              <a:t>Haar级联分类器</a:t>
            </a:r>
            <a:br/>
            <a:r>
              <a:t>检测人脸位置</a:t>
            </a:r>
            <a:br/>
            <a:r>
              <a:t>返回坐标信息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920240"/>
            <a:ext cx="256032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75120" y="2194560"/>
            <a:ext cx="640080" cy="640080"/>
          </a:xfrm>
          <a:prstGeom prst="round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971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3436"/>
                </a:solidFill>
              </a:defRPr>
            </a:pPr>
            <a:r>
              <a:t>场景识别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3375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36E72"/>
                </a:solidFill>
              </a:defRPr>
            </a:pPr>
            <a:r>
              <a:t>亮度/清晰度/边缘</a:t>
            </a:r>
            <a:br/>
            <a:r>
              <a:t>密度综合判断</a:t>
            </a:r>
            <a:br/>
            <a:r>
              <a:t>场景类型分类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920240"/>
            <a:ext cx="256032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64040" y="2194560"/>
            <a:ext cx="640080" cy="64008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971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3436"/>
                </a:solidFill>
              </a:defRPr>
            </a:pPr>
            <a:r>
              <a:t>清晰度评估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33375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36E72"/>
                </a:solidFill>
              </a:defRPr>
            </a:pPr>
            <a:r>
              <a:t>Laplacian方差</a:t>
            </a:r>
            <a:br/>
            <a:r>
              <a:t>计算图像清晰度</a:t>
            </a:r>
            <a:br/>
            <a:r>
              <a:t>模糊/锐利判断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029200"/>
            <a:ext cx="10698480" cy="13716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3436"/>
                </a:solidFill>
              </a:defRPr>
            </a:pPr>
            <a:r>
              <a:t>处理流程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623560"/>
            <a:ext cx="1371600" cy="411480"/>
          </a:xfrm>
          <a:prstGeom prst="round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上传图片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5669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C5CE7"/>
                </a:solidFill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0" y="5623560"/>
            <a:ext cx="1371600" cy="411480"/>
          </a:xfrm>
          <a:prstGeom prst="round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OpenCV解码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5669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C5CE7"/>
                </a:solidFill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5623560"/>
            <a:ext cx="1371600" cy="411480"/>
          </a:xfrm>
          <a:prstGeom prst="round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K-Means颜色聚类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5669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C5CE7"/>
                </a:solidFill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5623560"/>
            <a:ext cx="1371600" cy="411480"/>
          </a:xfrm>
          <a:prstGeom prst="round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Haar人脸检测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5669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C5CE7"/>
                </a:solidFill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5623560"/>
            <a:ext cx="1371600" cy="411480"/>
          </a:xfrm>
          <a:prstGeom prst="round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场景/清晰度分析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5669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C5CE7"/>
                </a:solidFill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58400" y="5623560"/>
            <a:ext cx="1371600" cy="411480"/>
          </a:xfrm>
          <a:prstGeom prst="round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返回JSON结果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3436"/>
                </a:solidFill>
              </a:defRPr>
            </a:pPr>
            <a:r>
              <a:t>核心功能二：AI写作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1371600" cy="54864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36E72"/>
                </a:solidFill>
              </a:defRPr>
            </a:pPr>
            <a:r>
              <a:t>基于智谱AI GLM-4-Flash 大语言模型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1031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C5CE7"/>
                </a:solidFill>
              </a:defRPr>
            </a:pPr>
            <a:r>
              <a:t>通用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36E72"/>
                </a:solidFill>
              </a:defRPr>
            </a:pPr>
            <a:r>
              <a:t>自然流畅的通用写作风格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920240"/>
            <a:ext cx="21031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29BFE"/>
                </a:solidFill>
              </a:defRPr>
            </a:pPr>
            <a:r>
              <a:t>文学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4688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36E72"/>
                </a:solidFill>
              </a:defRPr>
            </a:pPr>
            <a:r>
              <a:t>优美富有文学色彩，注重修辞意境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1920240"/>
            <a:ext cx="21031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894"/>
                </a:solidFill>
              </a:defRPr>
            </a:pPr>
            <a:r>
              <a:t>技术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4688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36E72"/>
                </a:solidFill>
              </a:defRPr>
            </a:pPr>
            <a:r>
              <a:t>专业严谨的技术语言，注重逻辑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920240"/>
            <a:ext cx="21031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DC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CB6E"/>
                </a:solidFill>
              </a:defRPr>
            </a:pPr>
            <a:r>
              <a:t>幽默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4688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36E72"/>
                </a:solidFill>
              </a:defRPr>
            </a:pPr>
            <a:r>
              <a:t>风趣幽默，加入有趣比喻和段子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1920240"/>
            <a:ext cx="21031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D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980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79A8"/>
                </a:solidFill>
              </a:defRPr>
            </a:pPr>
            <a:r>
              <a:t>诗歌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24688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36E72"/>
                </a:solidFill>
              </a:defRPr>
            </a:pPr>
            <a:r>
              <a:t>诗歌形式，注意韵律和意境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931920"/>
            <a:ext cx="10698480" cy="237744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5CE7"/>
                </a:solidFill>
              </a:defRPr>
            </a:pPr>
            <a:r>
              <a:t>特色功能：提示词增强（Prompt Engineering）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4805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3436"/>
                </a:solidFill>
              </a:defRPr>
            </a:pPr>
            <a:r>
              <a:t>创意工坊模式下，LLM可将中文描述自动转化为英文AI绘画提示词</a:t>
            </a:r>
          </a:p>
          <a:p>
            <a:pPr>
              <a:spcAft>
                <a:spcPts val="600"/>
              </a:spcAft>
              <a:defRPr sz="1400">
                <a:solidFill>
                  <a:srgbClr val="2D3436"/>
                </a:solidFill>
              </a:defRPr>
            </a:pPr>
            <a:r>
              <a:t>自动添加风格、光影、细节等要素，提升AIGC生成质量</a:t>
            </a:r>
          </a:p>
          <a:p>
            <a:pPr>
              <a:spcAft>
                <a:spcPts val="600"/>
              </a:spcAft>
              <a:defRPr sz="1400">
                <a:solidFill>
                  <a:srgbClr val="2D3436"/>
                </a:solidFill>
              </a:defRPr>
            </a:pPr>
            <a:r>
              <a:t>示例："一只猫在月光下" → "a cat under moonlight, highly detailed, soft lighting, 8k, masterpiece"</a:t>
            </a:r>
          </a:p>
          <a:p>
            <a:pPr>
              <a:spcAft>
                <a:spcPts val="600"/>
              </a:spcAft>
              <a:defRPr sz="1400">
                <a:solidFill>
                  <a:srgbClr val="2D3436"/>
                </a:solidFill>
              </a:defRPr>
            </a:pPr>
            <a:r>
              <a:t>支持多轮对话历史传递，实现上下文连贯的创意写作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3436"/>
                </a:solidFill>
              </a:defRPr>
            </a:pPr>
            <a:r>
              <a:t>核心功能三：AI绘画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1371600" cy="54864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36E72"/>
                </a:solidFill>
              </a:defRPr>
            </a:pPr>
            <a:r>
              <a:t>基于智谱AI CogView-3-Flash 图像生成模型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7373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103120"/>
            <a:ext cx="1188720" cy="731520"/>
          </a:xfrm>
          <a:prstGeom prst="round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3436"/>
                </a:solidFill>
              </a:defRPr>
            </a:pPr>
            <a:r>
              <a:t>动漫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918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36E72"/>
                </a:solidFill>
              </a:defRPr>
            </a:pPr>
            <a:r>
              <a:t>anime style</a:t>
            </a:r>
            <a:br/>
            <a:r>
              <a:t>vibrant colors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39" y="1920240"/>
            <a:ext cx="17373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3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80359" y="2103120"/>
            <a:ext cx="1188720" cy="731520"/>
          </a:xfrm>
          <a:prstGeom prst="roundRect">
            <a:avLst/>
          </a:prstGeom>
          <a:solidFill>
            <a:srgbClr val="2D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199" y="2926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3436"/>
                </a:solidFill>
              </a:defRPr>
            </a:pPr>
            <a:r>
              <a:t>写实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199" y="32918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36E72"/>
                </a:solidFill>
              </a:defRPr>
            </a:pPr>
            <a:r>
              <a:t>photorealistic</a:t>
            </a:r>
            <a:br/>
            <a:r>
              <a:t>high detail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8" y="1920240"/>
            <a:ext cx="17373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8E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54878" y="2103120"/>
            <a:ext cx="1188720" cy="731520"/>
          </a:xfrm>
          <a:prstGeom prst="roundRect">
            <a:avLst/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18" y="2926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3436"/>
                </a:solidFill>
              </a:defRPr>
            </a:pPr>
            <a:r>
              <a:t>水彩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18" y="32918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36E72"/>
                </a:solidFill>
              </a:defRPr>
            </a:pPr>
            <a:r>
              <a:t>watercolor</a:t>
            </a:r>
            <a:br/>
            <a:r>
              <a:t>soft edges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77" y="1920240"/>
            <a:ext cx="17373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7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29397" y="2103120"/>
            <a:ext cx="1188720" cy="731520"/>
          </a:xfrm>
          <a:prstGeom prst="roundRect">
            <a:avLst/>
          </a:prstGeom>
          <a:solidFill>
            <a:srgbClr val="E17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37" y="2926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3436"/>
                </a:solidFill>
              </a:defRPr>
            </a:pPr>
            <a:r>
              <a:t>油画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37" y="32918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36E72"/>
                </a:solidFill>
              </a:defRPr>
            </a:pPr>
            <a:r>
              <a:t>oil painting</a:t>
            </a:r>
            <a:br/>
            <a:r>
              <a:t>rich textures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596" y="1920240"/>
            <a:ext cx="17373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50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503916" y="2103120"/>
            <a:ext cx="1188720" cy="731520"/>
          </a:xfrm>
          <a:prstGeom prst="roundRect">
            <a:avLst/>
          </a:prstGeom>
          <a:solidFill>
            <a:srgbClr val="350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56" y="2926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3436"/>
                </a:solidFill>
              </a:defRPr>
            </a:pPr>
            <a:r>
              <a:t>赛博朋克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56" y="32918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36E72"/>
                </a:solidFill>
              </a:defRPr>
            </a:pPr>
            <a:r>
              <a:t>cyberpunk</a:t>
            </a:r>
            <a:br/>
            <a:r>
              <a:t>neon lights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04115" y="1920240"/>
            <a:ext cx="17373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4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378435" y="2103120"/>
            <a:ext cx="1188720" cy="731520"/>
          </a:xfrm>
          <a:prstGeom prst="round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75" y="2926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3436"/>
                </a:solidFill>
              </a:defRPr>
            </a:pPr>
            <a:r>
              <a:t>国画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75" y="32918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36E72"/>
                </a:solidFill>
              </a:defRPr>
            </a:pPr>
            <a:r>
              <a:t>Chinese ink</a:t>
            </a:r>
            <a:br/>
            <a:r>
              <a:t>elegant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297680"/>
            <a:ext cx="10698480" cy="210312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D79A8"/>
                </a:solidFill>
              </a:defRPr>
            </a:pPr>
            <a:r>
              <a:t>AI绘画生成流程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846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</a:defRPr>
            </a:pPr>
            <a:r>
              <a:t>1. 用户输入画面描述（中文/英文均可）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</a:defRPr>
            </a:pPr>
            <a:r>
              <a:t>2. 系统自动添加风格后缀（如 "anime style, vibrant colors, detailed illustration"）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</a:defRPr>
            </a:pPr>
            <a:r>
              <a:t>3. 调用 CogView-3-Flash API 生成图片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</a:defRPr>
            </a:pPr>
            <a:r>
              <a:t>4. 返回生成结果，支持下载保存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</a:defRPr>
            </a:pPr>
            <a:r>
              <a:t>5. 优雅降级：无API Key时使用Pillow生成艺术化占位图（Mock模式）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E17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3436"/>
                </a:solidFill>
              </a:defRPr>
            </a:pPr>
            <a:r>
              <a:t>核心功能四：创意工坊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1371600" cy="54864"/>
          </a:xfrm>
          <a:prstGeom prst="roundRect">
            <a:avLst/>
          </a:prstGeom>
          <a:solidFill>
            <a:srgbClr val="E17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36E72"/>
                </a:solidFill>
              </a:defRPr>
            </a:pPr>
            <a:r>
              <a:t>多AI能力融合，实现跨模态创意组合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029200" cy="4114800"/>
          </a:xfrm>
          <a:prstGeom prst="roundRect">
            <a:avLst/>
          </a:prstGeom>
          <a:solidFill>
            <a:srgbClr val="F0F0FF"/>
          </a:solidFill>
          <a:ln w="190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5CE7"/>
                </a:solidFill>
              </a:defRPr>
            </a:pPr>
            <a:r>
              <a:t>模式一：图片 → 文字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3436"/>
                </a:solidFill>
              </a:defRPr>
            </a:pPr>
            <a:r>
              <a:t>Step 1: 用户上传图片</a:t>
            </a:r>
          </a:p>
          <a:p>
            <a:pPr>
              <a:spcAft>
                <a:spcPts val="400"/>
              </a:spcAft>
              <a:defRPr sz="1300">
                <a:solidFill>
                  <a:srgbClr val="2D3436"/>
                </a:solidFill>
              </a:defRPr>
            </a:pPr>
            <a:r>
              <a:t>Step 2: OpenCV 分析图像内容</a:t>
            </a:r>
          </a:p>
          <a:p>
            <a:pPr>
              <a:spcAft>
                <a:spcPts val="400"/>
              </a:spcAft>
              <a:defRPr sz="1300">
                <a:solidFill>
                  <a:srgbClr val="2D3436"/>
                </a:solidFill>
              </a:defRPr>
            </a:pPr>
            <a:r>
              <a:t>  - 提取颜色、检测人脸、识别场景</a:t>
            </a:r>
          </a:p>
          <a:p>
            <a:pPr>
              <a:spcAft>
                <a:spcPts val="400"/>
              </a:spcAft>
              <a:defRPr sz="1300">
                <a:solidFill>
                  <a:srgbClr val="2D3436"/>
                </a:solidFill>
              </a:defRPr>
            </a:pPr>
            <a:r>
              <a:t>Step 3: 将图像描述传递给 LLM</a:t>
            </a:r>
          </a:p>
          <a:p>
            <a:pPr>
              <a:spcAft>
                <a:spcPts val="400"/>
              </a:spcAft>
              <a:defRPr sz="1300">
                <a:solidFill>
                  <a:srgbClr val="2D3436"/>
                </a:solidFill>
              </a:defRPr>
            </a:pPr>
            <a:r>
              <a:t>Step 4: GLM-4 根据描述创作文字</a:t>
            </a:r>
          </a:p>
          <a:p>
            <a:pPr>
              <a:spcAft>
                <a:spcPts val="400"/>
              </a:spcAft>
              <a:defRPr sz="1300">
                <a:solidFill>
                  <a:srgbClr val="2D3436"/>
                </a:solidFill>
              </a:defRPr>
            </a:pPr>
            <a:r>
              <a:t>  - 可指定文学/技术等风格</a:t>
            </a:r>
          </a:p>
          <a:p>
            <a:pPr>
              <a:spcAft>
                <a:spcPts val="400"/>
              </a:spcAft>
              <a:defRPr sz="1300">
                <a:solidFill>
                  <a:srgbClr val="2D3436"/>
                </a:solidFill>
              </a:defRPr>
            </a:pPr>
            <a:r>
              <a:t>输出: 图像分析结果 + AI创作文字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920240"/>
            <a:ext cx="5029200" cy="4114800"/>
          </a:xfrm>
          <a:prstGeom prst="roundRect">
            <a:avLst/>
          </a:prstGeom>
          <a:solidFill>
            <a:srgbClr val="FFF0F5"/>
          </a:solidFill>
          <a:ln w="19050">
            <a:solidFill>
              <a:srgbClr val="FD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D79A8"/>
                </a:solidFill>
              </a:defRPr>
            </a:pPr>
            <a:r>
              <a:t>模式二：文字 → 图片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56032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3436"/>
                </a:solidFill>
              </a:defRPr>
            </a:pPr>
            <a:r>
              <a:t>Step 1: 用户输入创意描述</a:t>
            </a:r>
          </a:p>
          <a:p>
            <a:pPr>
              <a:spcAft>
                <a:spcPts val="400"/>
              </a:spcAft>
              <a:defRPr sz="1300">
                <a:solidFill>
                  <a:srgbClr val="2D3436"/>
                </a:solidFill>
              </a:defRPr>
            </a:pPr>
            <a:r>
              <a:t>Step 2: LLM 增强提示词</a:t>
            </a:r>
          </a:p>
          <a:p>
            <a:pPr>
              <a:spcAft>
                <a:spcPts val="400"/>
              </a:spcAft>
              <a:defRPr sz="1300">
                <a:solidFill>
                  <a:srgbClr val="2D3436"/>
                </a:solidFill>
              </a:defRPr>
            </a:pPr>
            <a:r>
              <a:t>  - 中文→英文，添加风格/光影/细节</a:t>
            </a:r>
          </a:p>
          <a:p>
            <a:pPr>
              <a:spcAft>
                <a:spcPts val="400"/>
              </a:spcAft>
              <a:defRPr sz="1300">
                <a:solidFill>
                  <a:srgbClr val="2D3436"/>
                </a:solidFill>
              </a:defRPr>
            </a:pPr>
            <a:r>
              <a:t>Step 3: 增强后的提示词传给 AIGC</a:t>
            </a:r>
          </a:p>
          <a:p>
            <a:pPr>
              <a:spcAft>
                <a:spcPts val="400"/>
              </a:spcAft>
              <a:defRPr sz="1300">
                <a:solidFill>
                  <a:srgbClr val="2D3436"/>
                </a:solidFill>
              </a:defRPr>
            </a:pPr>
            <a:r>
              <a:t>Step 4: CogView 生成精美图片</a:t>
            </a:r>
          </a:p>
          <a:p>
            <a:pPr>
              <a:spcAft>
                <a:spcPts val="400"/>
              </a:spcAft>
              <a:defRPr sz="1300">
                <a:solidFill>
                  <a:srgbClr val="2D3436"/>
                </a:solidFill>
              </a:defRPr>
            </a:pPr>
            <a:r>
              <a:t>  - 支持6种绘画风格</a:t>
            </a:r>
          </a:p>
          <a:p>
            <a:pPr>
              <a:spcAft>
                <a:spcPts val="400"/>
              </a:spcAft>
              <a:defRPr sz="1300">
                <a:solidFill>
                  <a:srgbClr val="2D3436"/>
                </a:solidFill>
              </a:defRPr>
            </a:pPr>
            <a:r>
              <a:t>输出: 增强提示词 + AI生成图片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3436"/>
                </a:solidFill>
              </a:defRPr>
            </a:pPr>
            <a:r>
              <a:t>数据库设计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1371600" cy="54864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6517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651760" cy="45720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UserProfile (用户资料)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377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436"/>
                </a:solidFill>
              </a:defRPr>
            </a:pPr>
            <a:r>
              <a:t>id: Integer (PK)</a:t>
            </a:r>
            <a:br/>
            <a:r>
              <a:t>user: OneToOne(User)</a:t>
            </a:r>
            <a:br/>
            <a:r>
              <a:t>avatar: ImageField</a:t>
            </a:r>
            <a:br/>
            <a:r>
              <a:t>bio: TextField</a:t>
            </a:r>
            <a:br/>
            <a:r>
              <a:t>created_at: DateTime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463040"/>
            <a:ext cx="26517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66160" y="1463040"/>
            <a:ext cx="2651760" cy="457200"/>
          </a:xfrm>
          <a:prstGeom prst="round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CreativeProject (创意项目)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011680"/>
            <a:ext cx="2377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436"/>
                </a:solidFill>
              </a:defRPr>
            </a:pPr>
            <a:r>
              <a:t>id: Integer (PK)</a:t>
            </a:r>
            <a:br/>
            <a:r>
              <a:t>title: CharField(200)</a:t>
            </a:r>
            <a:br/>
            <a:r>
              <a:t>project_type: CharField(20)</a:t>
            </a:r>
            <a:br/>
            <a:r>
              <a:t>input_data: JSONField</a:t>
            </a:r>
            <a:br/>
            <a:r>
              <a:t>output_data: JSONField</a:t>
            </a:r>
            <a:br/>
            <a:r>
              <a:t>result_image: ImageField</a:t>
            </a:r>
            <a:br/>
            <a:r>
              <a:t>user: FK(User)</a:t>
            </a:r>
            <a:br/>
            <a:r>
              <a:t>is_public: BooleanField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63040"/>
            <a:ext cx="26517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D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1463040"/>
            <a:ext cx="2651760" cy="45720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Artwork (作品)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011680"/>
            <a:ext cx="2377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436"/>
                </a:solidFill>
              </a:defRPr>
            </a:pPr>
            <a:r>
              <a:t>id: Integer (PK)</a:t>
            </a:r>
            <a:br/>
            <a:r>
              <a:t>title: CharField(200)</a:t>
            </a:r>
            <a:br/>
            <a:r>
              <a:t>image: ImageField</a:t>
            </a:r>
            <a:br/>
            <a:r>
              <a:t>prompt: TextField</a:t>
            </a:r>
            <a:br/>
            <a:r>
              <a:t>ai_type: CharField(20)</a:t>
            </a:r>
            <a:br/>
            <a:r>
              <a:t>likes / views: Integer</a:t>
            </a:r>
            <a:br/>
            <a:r>
              <a:t>user: FK(User)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463040"/>
            <a:ext cx="26517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7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35440" y="1463040"/>
            <a:ext cx="2651760" cy="457200"/>
          </a:xfrm>
          <a:prstGeom prst="roundRect">
            <a:avLst/>
          </a:prstGeom>
          <a:solidFill>
            <a:srgbClr val="E17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Comment / LikeRecord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2011680"/>
            <a:ext cx="2377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436"/>
                </a:solidFill>
              </a:defRPr>
            </a:pPr>
            <a:r>
              <a:t>Comment:</a:t>
            </a:r>
            <a:br/>
            <a:r>
              <a:t>  artwork: FK(Artwork)</a:t>
            </a:r>
            <a:br/>
            <a:r>
              <a:t>  user: FK(User)</a:t>
            </a:r>
            <a:br/>
            <a:r>
              <a:t>  content: TextField</a:t>
            </a:r>
            <a:br/>
            <a:r>
              <a:t>LikeRecord:</a:t>
            </a:r>
            <a:br/>
            <a:r>
              <a:t>  artwork+user: Unique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3436"/>
                </a:solidFill>
              </a:defRPr>
            </a:pPr>
            <a:r>
              <a:t>项目结构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1371600" cy="54864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</a:defRPr>
            </a:pPr>
            <a:r>
              <a:t>期末项目/</a:t>
            </a:r>
            <a:br/>
            <a:r>
              <a:t>├── zhiJing/              # Django项目配置</a:t>
            </a:r>
            <a:br/>
            <a:r>
              <a:t>│   ├── settings.py       # 全局配置</a:t>
            </a:r>
            <a:br/>
            <a:r>
              <a:t>│   ├── urls.py           # 根路由</a:t>
            </a:r>
            <a:br/>
            <a:r>
              <a:t>│   └── wsgi.py</a:t>
            </a:r>
            <a:br/>
            <a:r>
              <a:t>├── accounts/             # 用户管理App</a:t>
            </a:r>
            <a:br/>
            <a:r>
              <a:t>│   ├── models.py         # UserProfile模型</a:t>
            </a:r>
            <a:br/>
            <a:r>
              <a:t>│   ├── views.py          # 注册/登录/个人中心</a:t>
            </a:r>
            <a:br/>
            <a:r>
              <a:t>│   └── forms.py          # 表单验证</a:t>
            </a:r>
            <a:br/>
            <a:r>
              <a:t>├── creative/             # 创意工坊App</a:t>
            </a:r>
            <a:br/>
            <a:r>
              <a:t>│   ├── models.py         # CreativeProject模型</a:t>
            </a:r>
            <a:br/>
            <a:r>
              <a:t>│   └── views.py          # 识物/写作/绘画/工坊</a:t>
            </a:r>
            <a:br/>
            <a:r>
              <a:t>├── gallery/              # 作品画廊App</a:t>
            </a:r>
            <a:br/>
            <a:r>
              <a:t>│   ├── models.py         # Artwork/Comment/LikeRecord</a:t>
            </a:r>
            <a:br/>
            <a:r>
              <a:t>│   └── views.py          # 画廊/点赞/评论</a:t>
            </a:r>
            <a:br/>
            <a:r>
              <a:t>├── ai_service/           # Flask AI微服务</a:t>
            </a:r>
            <a:br/>
            <a:r>
              <a:t>│   ├── app.py            # Flask路由(4个API)</a:t>
            </a:r>
            <a:br/>
            <a:r>
              <a:t>│   ├── cv_service.py     # OpenCV视觉分析</a:t>
            </a:r>
            <a:br/>
            <a:r>
              <a:t>│   ├── llm_service.py    # GLM-4大模型</a:t>
            </a:r>
            <a:br/>
            <a:r>
              <a:t>│   └── aigc_service.py   # CogView图像生成</a:t>
            </a:r>
            <a:br/>
            <a:r>
              <a:t>├── templates/            # 前端模板(12个页面)</a:t>
            </a:r>
            <a:br/>
            <a:r>
              <a:t>├── static/css/           # 渐变科技风CSS</a:t>
            </a:r>
            <a:br/>
            <a:r>
              <a:t>├── run_ai_service.py     # Flask启动脚本</a:t>
            </a:r>
            <a:br/>
            <a:r>
              <a:t>├── start.bat             # 一键启动脚本</a:t>
            </a:r>
            <a:br/>
            <a:r>
              <a:t>└── manage.py             # Django管理脚本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4572000" cy="50292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463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5CE7"/>
                </a:solidFill>
              </a:defRPr>
            </a:pPr>
            <a:r>
              <a:t>项目规模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201168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3436"/>
                </a:solidFill>
              </a:defRPr>
            </a:pPr>
            <a:r>
              <a:t>Django Apps: 3个 (accounts / creative / gallery)</a:t>
            </a:r>
          </a:p>
          <a:p>
            <a:pPr>
              <a:spcAft>
                <a:spcPts val="600"/>
              </a:spcAft>
              <a:defRPr sz="1200">
                <a:solidFill>
                  <a:srgbClr val="2D3436"/>
                </a:solidFill>
              </a:defRPr>
            </a:pPr>
            <a:r>
              <a:t>Flask API端点: 4个 (health / cv / llm / aigc)</a:t>
            </a:r>
          </a:p>
          <a:p>
            <a:pPr>
              <a:spcAft>
                <a:spcPts val="600"/>
              </a:spcAft>
              <a:defRPr sz="1200">
                <a:solidFill>
                  <a:srgbClr val="2D3436"/>
                </a:solidFill>
              </a:defRPr>
            </a:pPr>
            <a:r>
              <a:t>数据模型: 5个 (UserProfile / CreativeProject / Artwork / Comment / LikeRecord)</a:t>
            </a:r>
          </a:p>
          <a:p>
            <a:pPr>
              <a:spcAft>
                <a:spcPts val="600"/>
              </a:spcAft>
              <a:defRPr sz="1200">
                <a:solidFill>
                  <a:srgbClr val="2D3436"/>
                </a:solidFill>
              </a:defRPr>
            </a:pPr>
            <a:r>
              <a:t>前端页面: 12个模板页面</a:t>
            </a:r>
          </a:p>
          <a:p>
            <a:pPr>
              <a:spcAft>
                <a:spcPts val="600"/>
              </a:spcAft>
              <a:defRPr sz="1200">
                <a:solidFill>
                  <a:srgbClr val="2D3436"/>
                </a:solidFill>
              </a:defRPr>
            </a:pPr>
            <a:r>
              <a:t>AI功能: 3大核心能力 + 1个融合模式</a:t>
            </a:r>
          </a:p>
          <a:p>
            <a:pPr>
              <a:spcAft>
                <a:spcPts val="600"/>
              </a:spcAft>
              <a:defRPr sz="1200">
                <a:solidFill>
                  <a:srgbClr val="2D3436"/>
                </a:solidFill>
              </a:defRPr>
            </a:pPr>
            <a:r>
              <a:t>写作风格: 5种</a:t>
            </a:r>
          </a:p>
          <a:p>
            <a:pPr>
              <a:spcAft>
                <a:spcPts val="600"/>
              </a:spcAft>
              <a:defRPr sz="1200">
                <a:solidFill>
                  <a:srgbClr val="2D3436"/>
                </a:solidFill>
              </a:defRPr>
            </a:pPr>
            <a:r>
              <a:t>绘画风格: 6种</a:t>
            </a:r>
          </a:p>
          <a:p>
            <a:pPr>
              <a:spcAft>
                <a:spcPts val="600"/>
              </a:spcAft>
              <a:defRPr sz="1200">
                <a:solidFill>
                  <a:srgbClr val="2D3436"/>
                </a:solidFill>
              </a:defRPr>
            </a:pPr>
            <a:r>
              <a:t>代码文件: 20+ 个Python文件</a:t>
            </a:r>
          </a:p>
          <a:p>
            <a:pPr>
              <a:spcAft>
                <a:spcPts val="600"/>
              </a:spcAft>
              <a:defRPr sz="1200">
                <a:solidFill>
                  <a:srgbClr val="2D3436"/>
                </a:solidFill>
              </a:defRPr>
            </a:pPr>
            <a:r>
              <a:t>技术栈: Django + Flask + OpenCV + ZhipuAI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C0C1D"/>
            </a:gs>
            <a:gs pos="100000">
              <a:srgbClr val="2D1B69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创新亮点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463040"/>
            <a:ext cx="9418320" cy="1097280"/>
          </a:xfrm>
          <a:prstGeom prst="roundRect">
            <a:avLst/>
          </a:prstGeom>
          <a:solidFill>
            <a:srgbClr val="1A1A3E"/>
          </a:solidFill>
          <a:ln w="190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554480" y="1645920"/>
            <a:ext cx="640080" cy="64008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6002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Flask + Django 微服务架构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0116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C0"/>
                </a:solidFill>
              </a:defRPr>
            </a:pPr>
            <a:r>
              <a:t>Django处理业务逻辑与页面渲染，Flask专注AI推理，职责分离、独立部署、易于扩展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743200"/>
            <a:ext cx="9418320" cy="1097280"/>
          </a:xfrm>
          <a:prstGeom prst="roundRect">
            <a:avLst/>
          </a:prstGeom>
          <a:solidFill>
            <a:srgbClr val="1A1A3E"/>
          </a:solidFill>
          <a:ln w="19050">
            <a:solidFill>
              <a:srgbClr val="0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54480" y="2926080"/>
            <a:ext cx="640080" cy="640080"/>
          </a:xfrm>
          <a:prstGeom prst="round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8803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多AI能力融合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2918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C0"/>
                </a:solidFill>
              </a:defRPr>
            </a:pPr>
            <a:r>
              <a:t>CV + LLM + AIGC 三种AI技术组合，创意工坊实现跨模态创作（图片→文字、文字→图片）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023360"/>
            <a:ext cx="9418320" cy="1097280"/>
          </a:xfrm>
          <a:prstGeom prst="roundRect">
            <a:avLst/>
          </a:prstGeom>
          <a:solidFill>
            <a:srgbClr val="1A1A3E"/>
          </a:solidFill>
          <a:ln w="19050">
            <a:solidFill>
              <a:srgbClr val="FD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554480" y="4206240"/>
            <a:ext cx="640080" cy="64008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41605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优雅降级设计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45720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C0"/>
                </a:solidFill>
              </a:defRPr>
            </a:pPr>
            <a:r>
              <a:t>无API Key时自动切换Mock演示模式，CV功能本地运行无需API，保证项目始终可演示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5303520"/>
            <a:ext cx="9418320" cy="1097280"/>
          </a:xfrm>
          <a:prstGeom prst="roundRect">
            <a:avLst/>
          </a:prstGeom>
          <a:solidFill>
            <a:srgbClr val="1A1A3E"/>
          </a:solidFill>
          <a:ln w="19050">
            <a:solidFill>
              <a:srgbClr val="FDC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554480" y="5486400"/>
            <a:ext cx="640080" cy="640080"/>
          </a:xfrm>
          <a:prstGeom prst="roundRect">
            <a:avLst/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5440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完整创作闭环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58521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C0"/>
                </a:solidFill>
              </a:defRPr>
            </a:pPr>
            <a:r>
              <a:t>创作→保存→发布→点赞→评论，形成社区生态，用户可管理项目并发布到画廊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3436"/>
                </a:solidFill>
              </a:defRPr>
            </a:pPr>
            <a:r>
              <a:t>演示指南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1371600" cy="54864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5CE7"/>
                </a:solidFill>
              </a:defRPr>
            </a:pPr>
            <a:r>
              <a:t>启动方式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3436"/>
                </a:solidFill>
              </a:defRPr>
            </a:pPr>
            <a:r>
              <a:t>方式1：双击 start.bat 一键启动</a:t>
            </a:r>
          </a:p>
          <a:p>
            <a:pPr>
              <a:spcAft>
                <a:spcPts val="600"/>
              </a:spcAft>
              <a:defRPr sz="1400">
                <a:solidFill>
                  <a:srgbClr val="2D3436"/>
                </a:solidFill>
              </a:defRPr>
            </a:pPr>
            <a:r>
              <a:t>方式2：分别启动两个服务</a:t>
            </a:r>
          </a:p>
          <a:p>
            <a:pPr>
              <a:spcAft>
                <a:spcPts val="600"/>
              </a:spcAft>
              <a:defRPr sz="1400">
                <a:solidFill>
                  <a:srgbClr val="2D3436"/>
                </a:solidFill>
              </a:defRPr>
            </a:pPr>
            <a:r>
              <a:t>  终端1: python run_ai_service.py</a:t>
            </a:r>
          </a:p>
          <a:p>
            <a:pPr>
              <a:spcAft>
                <a:spcPts val="600"/>
              </a:spcAft>
              <a:defRPr sz="1400">
                <a:solidFill>
                  <a:srgbClr val="2D3436"/>
                </a:solidFill>
              </a:defRPr>
            </a:pPr>
            <a:r>
              <a:t>  终端2: python manage.py runserver 0.0.0.0:8000</a:t>
            </a:r>
          </a:p>
          <a:p>
            <a:pPr>
              <a:spcAft>
                <a:spcPts val="600"/>
              </a:spcAft>
              <a:defRPr sz="1400">
                <a:solidFill>
                  <a:srgbClr val="2D3436"/>
                </a:solidFill>
              </a:defRPr>
            </a:pPr>
            <a:r>
              <a:t>访问: http://localhost:8000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D79A8"/>
                </a:solidFill>
              </a:defRPr>
            </a:pPr>
            <a:r>
              <a:t>推荐演示流程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01168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D3436"/>
                </a:solidFill>
              </a:defRPr>
            </a:pPr>
            <a:r>
              <a:t>1. 首页浏览项目介绍</a:t>
            </a:r>
          </a:p>
          <a:p>
            <a:pPr>
              <a:spcAft>
                <a:spcPts val="500"/>
              </a:spcAft>
              <a:defRPr sz="1400">
                <a:solidFill>
                  <a:srgbClr val="2D3436"/>
                </a:solidFill>
              </a:defRPr>
            </a:pPr>
            <a:r>
              <a:t>2. 注册/登录账户</a:t>
            </a:r>
          </a:p>
          <a:p>
            <a:pPr>
              <a:spcAft>
                <a:spcPts val="500"/>
              </a:spcAft>
              <a:defRPr sz="1400">
                <a:solidFill>
                  <a:srgbClr val="2D3436"/>
                </a:solidFill>
              </a:defRPr>
            </a:pPr>
            <a:r>
              <a:t>3. 智能识物：上传图片查看分析</a:t>
            </a:r>
          </a:p>
          <a:p>
            <a:pPr>
              <a:spcAft>
                <a:spcPts val="500"/>
              </a:spcAft>
              <a:defRPr sz="1400">
                <a:solidFill>
                  <a:srgbClr val="2D3436"/>
                </a:solidFill>
              </a:defRPr>
            </a:pPr>
            <a:r>
              <a:t>4. AI写作：输入主题，切换风格</a:t>
            </a:r>
          </a:p>
          <a:p>
            <a:pPr>
              <a:spcAft>
                <a:spcPts val="500"/>
              </a:spcAft>
              <a:defRPr sz="1400">
                <a:solidFill>
                  <a:srgbClr val="2D3436"/>
                </a:solidFill>
              </a:defRPr>
            </a:pPr>
            <a:r>
              <a:t>5. AI绘画：描述画面，选择风格</a:t>
            </a:r>
          </a:p>
          <a:p>
            <a:pPr>
              <a:spcAft>
                <a:spcPts val="500"/>
              </a:spcAft>
              <a:defRPr sz="1400">
                <a:solidFill>
                  <a:srgbClr val="2D3436"/>
                </a:solidFill>
              </a:defRPr>
            </a:pPr>
            <a:r>
              <a:t>6. 创意工坊：体验多AI融合</a:t>
            </a:r>
          </a:p>
          <a:p>
            <a:pPr>
              <a:spcAft>
                <a:spcPts val="500"/>
              </a:spcAft>
              <a:defRPr sz="1400">
                <a:solidFill>
                  <a:srgbClr val="2D3436"/>
                </a:solidFill>
              </a:defRPr>
            </a:pPr>
            <a:r>
              <a:t>7. 作品画廊：浏览/点赞/评论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10698480" cy="18288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5CE7"/>
                </a:solidFill>
              </a:defRPr>
            </a:pPr>
            <a:r>
              <a:t>API配置说明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12064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3436"/>
                </a:solidFill>
              </a:defRPr>
            </a:pPr>
            <a:r>
              <a:t>智谱AI API Key 已配置在 ai_service/config.py 中</a:t>
            </a:r>
          </a:p>
          <a:p>
            <a:pPr>
              <a:spcAft>
                <a:spcPts val="400"/>
              </a:spcAft>
              <a:defRPr sz="1300">
                <a:solidFill>
                  <a:srgbClr val="2D3436"/>
                </a:solidFill>
              </a:defRPr>
            </a:pPr>
            <a:r>
              <a:t>GLM-4-Flash 和 CogView-3-Flash 均为免费模型，新用户有免费额度</a:t>
            </a:r>
          </a:p>
          <a:p>
            <a:pPr>
              <a:spcAft>
                <a:spcPts val="400"/>
              </a:spcAft>
              <a:defRPr sz="1300">
                <a:solidFill>
                  <a:srgbClr val="2D3436"/>
                </a:solidFill>
              </a:defRPr>
            </a:pPr>
            <a:r>
              <a:t>OpenCV功能无需API，本地运行</a:t>
            </a:r>
          </a:p>
          <a:p>
            <a:pPr>
              <a:spcAft>
                <a:spcPts val="400"/>
              </a:spcAft>
              <a:defRPr sz="1300">
                <a:solidFill>
                  <a:srgbClr val="2D3436"/>
                </a:solidFill>
              </a:defRPr>
            </a:pPr>
            <a:r>
              <a:t>未配置API Key时，AI写作和绘画自动使用Mock演示模式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C0C1D"/>
            </a:gs>
            <a:gs pos="100000">
              <a:srgbClr val="2D1B69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谢谢观看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0A0D0"/>
                </a:solidFill>
              </a:defRPr>
            </a:pPr>
            <a:r>
              <a:t>智境 · AI创意工坊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01752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C0C0E0"/>
                </a:solidFill>
              </a:defRPr>
            </a:pPr>
            <a:r>
              <a:t>Flask + Django 微服务架构，职责分离</a:t>
            </a:r>
          </a:p>
          <a:p>
            <a:pPr>
              <a:spcAft>
                <a:spcPts val="1000"/>
              </a:spcAft>
              <a:defRPr sz="1600">
                <a:solidFill>
                  <a:srgbClr val="C0C0E0"/>
                </a:solidFill>
              </a:defRPr>
            </a:pPr>
            <a:r>
              <a:t>OpenCV + GLM-4 + CogView 三大AI能力</a:t>
            </a:r>
          </a:p>
          <a:p>
            <a:pPr>
              <a:spcAft>
                <a:spcPts val="1000"/>
              </a:spcAft>
              <a:defRPr sz="1600">
                <a:solidFill>
                  <a:srgbClr val="C0C0E0"/>
                </a:solidFill>
              </a:defRPr>
            </a:pPr>
            <a:r>
              <a:t>智能识物 / AI写作 / AI绘画 / 创意工坊</a:t>
            </a:r>
          </a:p>
          <a:p>
            <a:pPr>
              <a:spcAft>
                <a:spcPts val="1000"/>
              </a:spcAft>
              <a:defRPr sz="1600">
                <a:solidFill>
                  <a:srgbClr val="C0C0E0"/>
                </a:solidFill>
              </a:defRPr>
            </a:pPr>
            <a:r>
              <a:t>完整用户系统与社区功能</a:t>
            </a:r>
          </a:p>
          <a:p>
            <a:pPr>
              <a:spcAft>
                <a:spcPts val="1000"/>
              </a:spcAft>
              <a:defRPr sz="1600">
                <a:solidFill>
                  <a:srgbClr val="C0C0E0"/>
                </a:solidFill>
              </a:defRPr>
            </a:pPr>
            <a:r>
              <a:t>优雅降级，无API Key也可演示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5303520"/>
            <a:ext cx="1005840" cy="36576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Flask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86200" y="5303520"/>
            <a:ext cx="1005840" cy="36576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Django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5303520"/>
            <a:ext cx="1005840" cy="36576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OpenCV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5303520"/>
            <a:ext cx="1005840" cy="36576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GLM-4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5303520"/>
            <a:ext cx="1005840" cy="36576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CogView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5303520"/>
            <a:ext cx="1005840" cy="36576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REST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080A0"/>
                </a:solidFill>
              </a:defRPr>
            </a:pPr>
            <a:r>
              <a:t>Python Web 期末项目 | 2026年6月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